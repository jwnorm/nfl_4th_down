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69" r:id="rId1"/>
  </p:sldMasterIdLst>
  <p:handoutMasterIdLst>
    <p:handoutMasterId r:id="rId16"/>
  </p:handoutMasterIdLst>
  <p:sldIdLst>
    <p:sldId id="256" r:id="rId2"/>
    <p:sldId id="279" r:id="rId3"/>
    <p:sldId id="282" r:id="rId4"/>
    <p:sldId id="281" r:id="rId5"/>
    <p:sldId id="283" r:id="rId6"/>
    <p:sldId id="284" r:id="rId7"/>
    <p:sldId id="288" r:id="rId8"/>
    <p:sldId id="285" r:id="rId9"/>
    <p:sldId id="286" r:id="rId10"/>
    <p:sldId id="290" r:id="rId11"/>
    <p:sldId id="293" r:id="rId12"/>
    <p:sldId id="295" r:id="rId13"/>
    <p:sldId id="291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8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9"/>
    <p:restoredTop sz="97619"/>
  </p:normalViewPr>
  <p:slideViewPr>
    <p:cSldViewPr snapToGrid="0">
      <p:cViewPr varScale="1">
        <p:scale>
          <a:sx n="221" d="100"/>
          <a:sy n="221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71" d="100"/>
          <a:sy n="171" d="100"/>
        </p:scale>
        <p:origin x="53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B5DC77-3304-32A9-B9DC-5C5C8154A3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D34AB-EA0B-B851-712F-DA44B6F3DB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8346C-829C-9741-B6F9-80B93090CD36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3B57B-772E-C27A-C659-0255D74036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FA236-1605-A99D-D85E-AD6208AED0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AD2D6-8445-2847-BBC7-A3BF72E58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21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7467-2772-9E6A-3D1E-85755336A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1E2D5-E572-C24F-BF83-4D71172C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4E879-90BF-FD7F-BAA2-86185629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87CEF-86F7-14FB-3FD1-7D0C79B5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7A963-8870-78DF-64EC-D2308E8F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6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4F1C-EE89-78E7-B956-D6759BD7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4184-B8B7-0D67-C956-3914FB229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4FC1-17E0-E397-850D-5EC51E61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A3165-3B34-E15A-200D-1F6A7041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A8F8-D1A6-9988-9545-BC7AB91A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8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9E4E-196C-8DE7-0CDC-6AD01098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9807-3040-0770-93E9-1C6738FC7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6A46F-1B10-943A-40E7-1B47CA2C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9B8E-338B-D54D-73CA-08CC24AE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D4F0-3A7A-9BD3-4F83-DC00C30D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04C7-157F-A6D8-C870-F5E1E874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2FC9F-F2F1-02CE-F952-6D67C3163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A4A56-4593-0893-5567-E07719FC2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357A6-63BD-9F37-BF3F-F3DAE53C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3076-2FA1-54C3-3280-A05ABD17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E6FFF-3B21-D52E-740F-270D39AF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4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3FAC-5295-4B98-EB65-3F30CFDD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0C68C-57B7-6BCB-41CA-8618494A2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F8471-AFD7-49B5-6365-7267C5B90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7715A-F9F7-71B4-E190-EFA266258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CFFF5-2748-AB23-FADD-27C0905CF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E9571-BB62-C4A2-B7C3-74763E1C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4F887-2EA5-E84C-307D-5F3F34F3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3A56E-9FE0-1709-1BFE-849FB281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7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1D8E-3001-6E3C-C49C-D3215810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2B853-A5C7-AF96-9F52-AC9E5D10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081CF-9DD5-33B5-4A97-1D2D98DD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9E454-1717-F3C8-CCDF-DB9E6FA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6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25C52-D69D-8A18-C44E-B1918BDC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0DB20-BCE9-22E7-62EB-D7498BFB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4702D-2240-8B6B-998E-BE2CD5A4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DA1C-336F-DD13-9729-E46C9818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FF6A2-02C4-A4AD-F8A6-50F84CCD9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28E7E-0D41-4A54-A708-0E62A30A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0480D-40F2-98C6-2B63-3947FE4E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EE33F-61AB-BE9C-D596-75591352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C5D09-AE93-7AEE-E98E-3A99F1FC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2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CBE9-99E1-C304-1FE1-07BEEC20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115B1-8D7E-B519-41BF-546F1100B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E7037-8208-45F8-67A1-FF7E37185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17334-8148-88ED-01DF-72828F79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5F4DB-94E1-A0DC-CF59-4773E197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1FEE2-AB80-DAD8-695A-3A9562B9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5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DECC-DE6B-DED3-492A-15721C4A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1AA0D-0D5D-A0A4-EC4C-A418451CB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8697-C68F-5B47-AED0-C732B7D6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9F87C-0E74-DD8D-255D-0D64A972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05F5B-1F03-B3E8-70FE-0374D983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06960-2AB3-965A-A57A-1C24AC989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5BD5A-9F10-34D1-C1F9-7BE527327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FA1EA-A25E-F322-26FF-FA7BC6878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AE86-20BB-AB37-1685-319E2AA1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0DFB9-08DE-20A0-C5C5-5680660D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2B230-D7BC-1C64-C28F-43965831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4217F-54FA-7218-517E-6E6723B0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4D40D-94A6-8FDC-509D-1BB58CDB0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EF14D-2A41-2742-8CE3-E0F0BB8EF3F0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2FACD-0F0B-1D16-38E6-5E93F8BAD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5610-020F-0BD3-0F5F-F590468C6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2C336-4040-1F4C-85A5-A5628993F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3" r:id="rId4"/>
    <p:sldLayoutId id="2147484674" r:id="rId5"/>
    <p:sldLayoutId id="2147484675" r:id="rId6"/>
    <p:sldLayoutId id="2147484676" r:id="rId7"/>
    <p:sldLayoutId id="2147484677" r:id="rId8"/>
    <p:sldLayoutId id="2147484678" r:id="rId9"/>
    <p:sldLayoutId id="2147484679" r:id="rId10"/>
    <p:sldLayoutId id="2147484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816D-9452-3387-4A48-581BE3F64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443330" cy="2387600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The </a:t>
            </a:r>
            <a:br>
              <a:rPr lang="en-US" sz="5400" dirty="0"/>
            </a:br>
            <a:r>
              <a:rPr lang="en-US" sz="5400" dirty="0"/>
              <a:t>Dan Campbell Effect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D5F3F-A522-6DBB-2D8E-E3BDC0BDD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3187"/>
            <a:ext cx="5197047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Fourth Down Decision-Making in the National Football League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Jacob Norman | ST 540-601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9A02A-FE92-2EE2-6643-DE59757E7B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9" t="2819" r="13687" b="-2819"/>
          <a:stretch>
            <a:fillRect/>
          </a:stretch>
        </p:blipFill>
        <p:spPr>
          <a:xfrm>
            <a:off x="5568352" y="1522561"/>
            <a:ext cx="6672743" cy="550809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413827-C54E-6862-1783-EAD0297B0BBB}"/>
              </a:ext>
            </a:extLst>
          </p:cNvPr>
          <p:cNvCxnSpPr>
            <a:cxnSpLocks/>
          </p:cNvCxnSpPr>
          <p:nvPr/>
        </p:nvCxnSpPr>
        <p:spPr>
          <a:xfrm>
            <a:off x="1417627" y="3517116"/>
            <a:ext cx="50936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Camera 19">
            <a:extLst>
              <a:ext uri="{FF2B5EF4-FFF2-40B4-BE49-F238E27FC236}">
                <a16:creationId xmlns:a16="http://schemas.microsoft.com/office/drawing/2014/main" id="{4912D2FB-4675-C91C-FDCB-D8798B45632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502124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8ED46-4626-0910-E95B-4CBE8E0E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29B8C39B-597B-B9EA-8E00-39F6A82F149B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37E3-0292-9BAB-0DEC-0646D4AF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48684"/>
            <a:ext cx="10604499" cy="4529813"/>
          </a:xfrm>
        </p:spPr>
        <p:txBody>
          <a:bodyPr anchor="t">
            <a:normAutofit/>
          </a:bodyPr>
          <a:lstStyle/>
          <a:p>
            <a:r>
              <a:rPr lang="en-US" dirty="0"/>
              <a:t>League rules are designed to foster consistent parity among NFL franchises</a:t>
            </a:r>
          </a:p>
          <a:p>
            <a:endParaRPr lang="en-US" dirty="0"/>
          </a:p>
          <a:p>
            <a:r>
              <a:rPr lang="en-US" dirty="0"/>
              <a:t>Teams have embraced on-field analytics in an effort to gain a competitive advantage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Fourth downs can be the most consequential plays in a game in terms of impacting expected win probability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C91693-141E-BDA6-1923-5CC213996A10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4" descr="Printable Detroit Lions Logo">
            <a:extLst>
              <a:ext uri="{FF2B5EF4-FFF2-40B4-BE49-F238E27FC236}">
                <a16:creationId xmlns:a16="http://schemas.microsoft.com/office/drawing/2014/main" id="{17A9AF56-44F0-F04E-4E36-69A7432D0F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Camera 12">
            <a:extLst>
              <a:ext uri="{FF2B5EF4-FFF2-40B4-BE49-F238E27FC236}">
                <a16:creationId xmlns:a16="http://schemas.microsoft.com/office/drawing/2014/main" id="{D71D7D80-C6EE-26CE-F7DD-ABBBDA60615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76501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EA286-B88A-1C21-E8B5-9705521F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82539560-266C-068A-029C-3AA60609048A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a fourth down?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36367-AC50-3911-9AFA-0C3DEB6FC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8925"/>
            <a:ext cx="10604499" cy="4569572"/>
          </a:xfrm>
        </p:spPr>
        <p:txBody>
          <a:bodyPr anchor="t">
            <a:normAutofit/>
          </a:bodyPr>
          <a:lstStyle/>
          <a:p>
            <a:r>
              <a:rPr lang="en-US" dirty="0"/>
              <a:t>Fourth down is the final opportunity for an offense to continue their drive towards to opponent's end zone</a:t>
            </a:r>
          </a:p>
          <a:p>
            <a:endParaRPr lang="en-US" dirty="0"/>
          </a:p>
          <a:p>
            <a:r>
              <a:rPr lang="en-US" dirty="0"/>
              <a:t>Traditional strategy has leaned towards conservative decision making, essentially treating third down as the last chance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New age thinking is to maximize win expectancy, which often means extending a drive to score more points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C0506-D116-3EEE-E235-006084B21E25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4" descr="Printable Detroit Lions Logo">
            <a:extLst>
              <a:ext uri="{FF2B5EF4-FFF2-40B4-BE49-F238E27FC236}">
                <a16:creationId xmlns:a16="http://schemas.microsoft.com/office/drawing/2014/main" id="{A66CBECF-FFE7-1EF3-0A8B-AFE7EA0C4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397F3359-6D2D-154B-4E17-44DDDD4EE53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64236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0DAED-A291-1678-70AB-BA71E0E7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5D425E6B-3201-234E-D097-B385440A78B6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52DB6-6E59-A672-C337-7D5B8FFCB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39952"/>
            <a:ext cx="10045145" cy="1355774"/>
          </a:xfrm>
        </p:spPr>
        <p:txBody>
          <a:bodyPr anchor="t">
            <a:normAutofit/>
          </a:bodyPr>
          <a:lstStyle/>
          <a:p>
            <a:r>
              <a:rPr lang="en-US" dirty="0"/>
              <a:t>Dan Campbell became the head coach of the Detroit Lions in 2021, implementing aggressive fourth down tactics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454077-7D2D-9252-6637-6CA09853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9" t="2819" r="13687" b="-2819"/>
          <a:stretch>
            <a:fillRect/>
          </a:stretch>
        </p:blipFill>
        <p:spPr>
          <a:xfrm>
            <a:off x="7649818" y="3231557"/>
            <a:ext cx="4542182" cy="374940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42DD8C-3D8C-C40B-99B8-4FA129C65CBA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E32E-811C-DC2C-9D1E-368F2585637D}"/>
              </a:ext>
            </a:extLst>
          </p:cNvPr>
          <p:cNvSpPr txBox="1">
            <a:spLocks/>
          </p:cNvSpPr>
          <p:nvPr/>
        </p:nvSpPr>
        <p:spPr>
          <a:xfrm>
            <a:off x="838200" y="2833539"/>
            <a:ext cx="8146772" cy="33494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Successfully conversions are praised, while failed ones are criticized as reckless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Is the media narrative that Campbell changed fourth down strategy leaguewide true?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CABF06E7-5FB0-2363-6F41-22760E71738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11850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378BE-0A9B-6A13-48E0-29021297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DCED82ED-8922-C559-618F-EB1CA2770FD5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8DA4-AB68-A3A0-46FB-31D8AF6C3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8925"/>
            <a:ext cx="10604499" cy="4569572"/>
          </a:xfrm>
        </p:spPr>
        <p:txBody>
          <a:bodyPr lIns="91440" rIns="91440" anchor="t">
            <a:normAutofit/>
          </a:bodyPr>
          <a:lstStyle/>
          <a:p>
            <a:r>
              <a:rPr lang="en-US" dirty="0"/>
              <a:t>Play-by-play data was sourced from </a:t>
            </a:r>
            <a:r>
              <a:rPr lang="en-US" dirty="0" err="1"/>
              <a:t>nflverse</a:t>
            </a:r>
            <a:r>
              <a:rPr lang="en-US" dirty="0"/>
              <a:t>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nflfastR</a:t>
            </a:r>
            <a:r>
              <a:rPr lang="en-US" dirty="0"/>
              <a:t>, supplemented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nflplotR</a:t>
            </a:r>
            <a:r>
              <a:rPr lang="en-US" dirty="0"/>
              <a:t> for enhanced visuals</a:t>
            </a:r>
          </a:p>
          <a:p>
            <a:endParaRPr lang="en-US" dirty="0"/>
          </a:p>
          <a:p>
            <a:r>
              <a:rPr lang="en-US" dirty="0"/>
              <a:t>Completed fourth down plays from the last 25 seasons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dirty="0"/>
              <a:t>  Over 90,000 rows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dirty="0"/>
              <a:t>  16 numerical, 4 indicator, and 1 categorical columns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performance reasons, more complex models utilized the last 10 seasons of play-by-play data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CA6147-8D36-77A9-9858-6CBB5F54B3D1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4" descr="Printable Detroit Lions Logo">
            <a:extLst>
              <a:ext uri="{FF2B5EF4-FFF2-40B4-BE49-F238E27FC236}">
                <a16:creationId xmlns:a16="http://schemas.microsoft.com/office/drawing/2014/main" id="{4FD64A88-BC16-9B7F-066B-E0DA1B4F3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amera 3">
            <a:extLst>
              <a:ext uri="{FF2B5EF4-FFF2-40B4-BE49-F238E27FC236}">
                <a16:creationId xmlns:a16="http://schemas.microsoft.com/office/drawing/2014/main" id="{11F9C465-CF28-F8E6-C8A2-52A56D64BBC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89496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4376E-FEFC-7E2D-0861-565D8918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2FA98F34-0F4D-C2ED-0756-DB0661279659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Bayesian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4C61-5CBE-8A13-4A19-BBFB8D61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8925"/>
            <a:ext cx="10728365" cy="4569572"/>
          </a:xfrm>
        </p:spPr>
        <p:txBody>
          <a:bodyPr lIns="91440" rIns="91440" anchor="t">
            <a:normAutofit/>
          </a:bodyPr>
          <a:lstStyle/>
          <a:p>
            <a:r>
              <a:rPr lang="en-US" dirty="0"/>
              <a:t>STAN was used to fit a series of GLMMs via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brms</a:t>
            </a:r>
            <a:r>
              <a:rPr lang="en-US" dirty="0"/>
              <a:t> package in R, with convergence verified via trace plots</a:t>
            </a:r>
          </a:p>
          <a:p>
            <a:endParaRPr lang="en-US" dirty="0"/>
          </a:p>
          <a:p>
            <a:r>
              <a:rPr lang="en-US" b="1" dirty="0"/>
              <a:t>Model 1:</a:t>
            </a:r>
            <a:r>
              <a:rPr lang="en-US" dirty="0"/>
              <a:t> Logistic regression with beta likelihood (fixed)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dirty="0"/>
              <a:t>  Priors: Flat, Gaussian, gamma (</a:t>
            </a:r>
            <a:r>
              <a:rPr lang="en-US" sz="2800" dirty="0" err="1"/>
              <a:t>sd</a:t>
            </a:r>
            <a:r>
              <a:rPr lang="en-US" sz="2800" dirty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b="1" dirty="0"/>
              <a:t>Model 2:</a:t>
            </a:r>
            <a:r>
              <a:rPr lang="en-US" dirty="0"/>
              <a:t> Logistic regression with Bernoulli likelihood (mixed)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dirty="0"/>
              <a:t>  Priors: Flat, Gaussian, horseshoe, gamma (</a:t>
            </a:r>
            <a:r>
              <a:rPr lang="en-US" sz="2800" dirty="0" err="1"/>
              <a:t>sd</a:t>
            </a:r>
            <a:r>
              <a:rPr lang="en-US" sz="2800" dirty="0"/>
              <a:t>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72EBDE-B3B2-2BF7-3A1A-253BC0A9172D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4" descr="Printable Detroit Lions Logo">
            <a:extLst>
              <a:ext uri="{FF2B5EF4-FFF2-40B4-BE49-F238E27FC236}">
                <a16:creationId xmlns:a16="http://schemas.microsoft.com/office/drawing/2014/main" id="{B2FB46ED-00E2-061B-BC62-A185B529E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amera 3">
            <a:extLst>
              <a:ext uri="{FF2B5EF4-FFF2-40B4-BE49-F238E27FC236}">
                <a16:creationId xmlns:a16="http://schemas.microsoft.com/office/drawing/2014/main" id="{31DB24D4-9205-BB72-943B-8B5F34CB53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01064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4B1E3-CA41-7EE1-6B0D-F8ACC40E0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05DC5F47-2671-9B2F-098D-E1CEF3A0575A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M1 Results: The Dan Campbell Effect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69BFC4-F2FE-E286-1799-6A9D16E5EDEF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4" descr="Printable Detroit Lions Logo">
            <a:extLst>
              <a:ext uri="{FF2B5EF4-FFF2-40B4-BE49-F238E27FC236}">
                <a16:creationId xmlns:a16="http://schemas.microsoft.com/office/drawing/2014/main" id="{823C0820-E801-069F-20E0-769374D3AF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2C519FC-E08F-8C15-D4E9-2FFF25AD8D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757027"/>
              </p:ext>
            </p:extLst>
          </p:nvPr>
        </p:nvGraphicFramePr>
        <p:xfrm>
          <a:off x="232267" y="4539346"/>
          <a:ext cx="12937133" cy="3180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1460500" progId="Word.Document.12">
                  <p:embed/>
                </p:oleObj>
              </mc:Choice>
              <mc:Fallback>
                <p:oleObj name="Document" r:id="rId3" imgW="5943600" imgH="1460500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4D850C3-6E08-4F06-8F6C-4235BE7A9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267" y="4539346"/>
                        <a:ext cx="12937133" cy="3180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1388EC-F70E-0DC0-3ED6-FCC97EC2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8925"/>
            <a:ext cx="10604499" cy="2388319"/>
          </a:xfrm>
        </p:spPr>
        <p:txBody>
          <a:bodyPr anchor="t">
            <a:normAutofit/>
          </a:bodyPr>
          <a:lstStyle/>
          <a:p>
            <a:r>
              <a:rPr lang="en-US" dirty="0"/>
              <a:t>The Campbell covariate is associated with a 0.367 increase in the log-odds of a conversion attempt proportion in an NFL season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While the results were moderately sensitive to prior, Campbell always remained a significant predictor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7A0040B8-071D-B1D8-F1EA-31E58352023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9629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7163C-C1FB-EF5D-131A-7FA92F42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A81B4837-B187-B943-261D-6EBEBBE3F2AD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M2 Results: Fixed Effects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339ACC-6492-4816-F6C1-3FBCF4414F32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172" name="Picture 4">
            <a:extLst>
              <a:ext uri="{FF2B5EF4-FFF2-40B4-BE49-F238E27FC236}">
                <a16:creationId xmlns:a16="http://schemas.microsoft.com/office/drawing/2014/main" id="{80B5AFBD-D82D-2E48-CEE6-BEDDB64C4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1"/>
          <a:stretch>
            <a:fillRect/>
          </a:stretch>
        </p:blipFill>
        <p:spPr bwMode="auto">
          <a:xfrm>
            <a:off x="441960" y="1793984"/>
            <a:ext cx="11399520" cy="449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F437A4-6640-D721-5823-5FCE804B0AFD}"/>
              </a:ext>
            </a:extLst>
          </p:cNvPr>
          <p:cNvSpPr txBox="1"/>
          <p:nvPr/>
        </p:nvSpPr>
        <p:spPr>
          <a:xfrm>
            <a:off x="4338797" y="3050738"/>
            <a:ext cx="6265788" cy="1292662"/>
          </a:xfrm>
          <a:prstGeom prst="rect">
            <a:avLst/>
          </a:prstGeom>
          <a:solidFill>
            <a:schemeClr val="bg1"/>
          </a:solidFill>
          <a:ln>
            <a:solidFill>
              <a:srgbClr val="448FC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dirty="0"/>
              <a:t>Response: Likelihood of attempting a fourth down conversion</a:t>
            </a:r>
          </a:p>
          <a:p>
            <a:endParaRPr lang="en-US" dirty="0"/>
          </a:p>
          <a:p>
            <a:r>
              <a:rPr lang="en-US" dirty="0"/>
              <a:t>Few very significant covariates, majority have a negative relationship with the response.</a:t>
            </a:r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A0979F7D-63BD-3442-9518-3F1EED0E260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3008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6E41E-3AE7-6E71-12C0-19839060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C333E153-226C-DF16-C7F6-AD1EEAF4F034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M2 Results: Random Effect Delta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916E67-587E-D318-970D-F8BDC06FF505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18" name="Picture 2">
            <a:extLst>
              <a:ext uri="{FF2B5EF4-FFF2-40B4-BE49-F238E27FC236}">
                <a16:creationId xmlns:a16="http://schemas.microsoft.com/office/drawing/2014/main" id="{D3596319-B906-EF88-9753-44C483681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25"/>
          <a:stretch>
            <a:fillRect/>
          </a:stretch>
        </p:blipFill>
        <p:spPr bwMode="auto">
          <a:xfrm>
            <a:off x="317519" y="1917824"/>
            <a:ext cx="11556962" cy="434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AD0EEE-F3CF-0F18-B54C-A543C70DBE07}"/>
              </a:ext>
            </a:extLst>
          </p:cNvPr>
          <p:cNvSpPr txBox="1"/>
          <p:nvPr/>
        </p:nvSpPr>
        <p:spPr>
          <a:xfrm>
            <a:off x="4381755" y="2136338"/>
            <a:ext cx="6265788" cy="1292662"/>
          </a:xfrm>
          <a:prstGeom prst="rect">
            <a:avLst/>
          </a:prstGeom>
          <a:solidFill>
            <a:schemeClr val="bg1"/>
          </a:solidFill>
          <a:ln>
            <a:solidFill>
              <a:srgbClr val="448FC1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dirty="0"/>
              <a:t>Response: Likelihood of attempting a fourth down conversion</a:t>
            </a:r>
          </a:p>
          <a:p>
            <a:endParaRPr lang="en-US" dirty="0"/>
          </a:p>
          <a:p>
            <a:r>
              <a:rPr lang="en-US" dirty="0"/>
              <a:t>Difference in random effects by team before versus after Campbell became a head coach.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551306A3-40A6-4B0E-AEA0-1CA00033BB1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03346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ECFC6-1B96-DE70-91E2-EEB95E31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BC0A16CE-83BC-A455-6A8F-514E464ECE26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471D8-69A8-A2E3-57D5-19CEB4238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48684"/>
            <a:ext cx="10604499" cy="4529813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Strong evidence that conversion attempts are increasing over time</a:t>
            </a:r>
          </a:p>
          <a:p>
            <a:endParaRPr lang="en-US" dirty="0"/>
          </a:p>
          <a:p>
            <a:r>
              <a:rPr lang="en-US" dirty="0"/>
              <a:t>Dan Campbell is associated with an increase in the proportion of fourth down conversion attempts since 2021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800" dirty="0"/>
              <a:t>  Impact is not universal, more pronounced for some teams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Traditional fourth down strategy is still reinforced by significance of variables such as yards to go, goal to go, and win probability</a:t>
            </a:r>
          </a:p>
          <a:p>
            <a:endParaRPr lang="en-US" dirty="0"/>
          </a:p>
          <a:p>
            <a:r>
              <a:rPr lang="en-US" dirty="0"/>
              <a:t>Wind was not nearly as significant as one might assume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4017A1-B820-1CB9-1F4A-1BA6833C1A42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4" descr="Printable Detroit Lions Logo">
            <a:extLst>
              <a:ext uri="{FF2B5EF4-FFF2-40B4-BE49-F238E27FC236}">
                <a16:creationId xmlns:a16="http://schemas.microsoft.com/office/drawing/2014/main" id="{932EA362-D637-F7A9-3B8C-5F5CA5E968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10202A3-21DD-ED41-77DA-35A0BF6D10A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92992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D4D6F-2F55-5370-F9FC-FCFB4B9E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50891CB7-D801-8A1F-D9F4-4C291F8F5E3D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Strengths and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58BC5-C2C3-7059-BBE0-4CD941D5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48684"/>
            <a:ext cx="10604499" cy="4529813"/>
          </a:xfrm>
        </p:spPr>
        <p:txBody>
          <a:bodyPr anchor="t">
            <a:normAutofit fontScale="92500" lnSpcReduction="10000"/>
          </a:bodyPr>
          <a:lstStyle/>
          <a:p>
            <a:pPr>
              <a:buFont typeface="System Font Regular"/>
              <a:buChar char="+"/>
            </a:pPr>
            <a:r>
              <a:rPr lang="en-US" dirty="0"/>
              <a:t>All models were fit on a significant amount of data, which lessens the impact of prior information</a:t>
            </a:r>
          </a:p>
          <a:p>
            <a:pPr>
              <a:buFont typeface="System Font Regular"/>
              <a:buChar char="+"/>
            </a:pPr>
            <a:endParaRPr lang="en-US" dirty="0"/>
          </a:p>
          <a:p>
            <a:pPr>
              <a:buFont typeface="System Font Regular"/>
              <a:buChar char="-"/>
            </a:pPr>
            <a:r>
              <a:rPr lang="en-US" dirty="0"/>
              <a:t>Computational performance limited the number of model fits that could be efficiently ran</a:t>
            </a:r>
          </a:p>
          <a:p>
            <a:pPr>
              <a:buFont typeface="System Font Regular"/>
              <a:buChar char="-"/>
            </a:pPr>
            <a:endParaRPr lang="en-US" dirty="0"/>
          </a:p>
          <a:p>
            <a:pPr>
              <a:buFont typeface="System Font Regular"/>
              <a:buChar char="-"/>
            </a:pPr>
            <a:r>
              <a:rPr lang="en-US" dirty="0"/>
              <a:t>As a Detroit Lions fan, I have a clear bias towards this research and could potentially be overstating significance of my findings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System Font Regular"/>
              <a:buChar char="-"/>
            </a:pPr>
            <a:r>
              <a:rPr lang="en-US" dirty="0"/>
              <a:t>Would like to extend analysis to also investigate fourth down conversion success rate with additional models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485D27-C5A6-DE93-0526-BDBF59041444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4" descr="Printable Detroit Lions Logo">
            <a:extLst>
              <a:ext uri="{FF2B5EF4-FFF2-40B4-BE49-F238E27FC236}">
                <a16:creationId xmlns:a16="http://schemas.microsoft.com/office/drawing/2014/main" id="{D1BC35BB-9CD9-44AC-3226-54F84A35E6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54274DA8-438D-7674-CB32-86EC76CEFB1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175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D5C7E-C84A-D243-D586-454A7118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C3121AE0-9596-F070-92EA-8A56DF1F065F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114F22-0107-68E5-049D-247C00BAC20E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4" descr="Printable Detroit Lions Logo">
            <a:extLst>
              <a:ext uri="{FF2B5EF4-FFF2-40B4-BE49-F238E27FC236}">
                <a16:creationId xmlns:a16="http://schemas.microsoft.com/office/drawing/2014/main" id="{1ECB2FC8-C1C5-2A0E-C015-ABAAB6C47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249079-B8E4-F107-B269-348051FC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48684"/>
            <a:ext cx="10604499" cy="452981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Bürkner</a:t>
            </a:r>
            <a:r>
              <a:rPr lang="en-US" dirty="0"/>
              <a:t>, P.-C. (n.d.). </a:t>
            </a:r>
            <a:r>
              <a:rPr lang="en-US" i="1" dirty="0"/>
              <a:t>brms: Bayesian regression models using Stan</a:t>
            </a:r>
            <a:r>
              <a:rPr lang="en-US" dirty="0"/>
              <a:t>. 	Retrieved April 30, 2026, from https://</a:t>
            </a:r>
            <a:r>
              <a:rPr lang="en-US" dirty="0" err="1"/>
              <a:t>paulbuerkner.com</a:t>
            </a:r>
            <a:r>
              <a:rPr lang="en-US" dirty="0"/>
              <a:t>/	brms/index.html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nflfastR</a:t>
            </a:r>
            <a:r>
              <a:rPr lang="en-US" dirty="0"/>
              <a:t>. (n.d.). </a:t>
            </a:r>
            <a:r>
              <a:rPr lang="en-US" i="1" dirty="0" err="1"/>
              <a:t>nflfastR</a:t>
            </a:r>
            <a:r>
              <a:rPr lang="en-US" i="1" dirty="0"/>
              <a:t>: Fast and tidy NFL data</a:t>
            </a:r>
            <a:r>
              <a:rPr lang="en-US" dirty="0"/>
              <a:t>. Retrieved April 30, 2026, 	from https://nflfastr.com/index.html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Stan Development Team. (n.d.). </a:t>
            </a:r>
            <a:r>
              <a:rPr lang="en-US" i="1" dirty="0"/>
              <a:t>Stan documentation</a:t>
            </a:r>
            <a:r>
              <a:rPr lang="en-US" dirty="0"/>
              <a:t>. Retrieved April 30, 	2026, 	from  https://mc-stan.org/docs/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Wikipedia contributors. (2025). </a:t>
            </a:r>
            <a:r>
              <a:rPr lang="en-US" i="1" dirty="0"/>
              <a:t>Beta regression</a:t>
            </a:r>
            <a:r>
              <a:rPr lang="en-US" dirty="0"/>
              <a:t>. Retrieved April 30, 2026, 	from  https://en.wikipedia.org/wiki/Beta_regression</a:t>
            </a:r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7FE224CA-DFE7-4BDC-ABC0-18BA0E26AA1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6935" y="139671"/>
            <a:ext cx="1747222" cy="1081174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48102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D7987-85C2-FC5A-E51B-062B7818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18DA3140-53A4-709F-5A33-1C8D34FAD7B7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Models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7E5F61-9C87-EF41-F743-78B1B03E1AFF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4" descr="Printable Detroit Lions Logo">
            <a:extLst>
              <a:ext uri="{FF2B5EF4-FFF2-40B4-BE49-F238E27FC236}">
                <a16:creationId xmlns:a16="http://schemas.microsoft.com/office/drawing/2014/main" id="{E71B9E7D-C692-F833-E27A-CEA77BA750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t="16366" r="20246" b="16366"/>
          <a:stretch>
            <a:fillRect/>
          </a:stretch>
        </p:blipFill>
        <p:spPr bwMode="auto">
          <a:xfrm>
            <a:off x="10529204" y="5684812"/>
            <a:ext cx="1430529" cy="108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A601391-4856-AF1D-71A7-9C17E4FDE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48684"/>
                <a:ext cx="10604499" cy="4529813"/>
              </a:xfrm>
            </p:spPr>
            <p:txBody>
              <a:bodyPr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Model 1:</a:t>
                </a:r>
                <a:r>
                  <a:rPr lang="en-US" dirty="0"/>
                  <a:t> Fourth down conversion attempt proportion by season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/>
                            <m:t>attempt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_</m:t>
                          </m:r>
                          <m:r>
                            <m:rPr>
                              <m:nor/>
                            </m:rPr>
                            <a:rPr lang="en-US" b="0" i="0" smtClean="0"/>
                            <m:t>prop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∼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Beta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 (1 −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logit</m:t>
                      </m:r>
                      <m:r>
                        <a:rPr lang="en-US" i="1" smtClean="0"/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i="1"/>
                        <m:t>)  =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/>
                            <m:t>𝛽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+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1</m:t>
                          </m:r>
                        </m:sub>
                      </m:sSub>
                      <m:r>
                        <a:rPr lang="en-US" i="1" smtClean="0"/>
                        <m:t>⋅</m:t>
                      </m:r>
                      <m:r>
                        <m:rPr>
                          <m:nor/>
                        </m:rPr>
                        <a:rPr lang="en-US" i="0" smtClean="0"/>
                        <m:t>season</m:t>
                      </m:r>
                      <m:r>
                        <a:rPr lang="en-US" i="1"/>
                        <m:t>+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2</m:t>
                          </m:r>
                        </m:sub>
                      </m:sSub>
                      <m:r>
                        <a:rPr lang="en-US" i="1"/>
                        <m:t>⋅</m:t>
                      </m:r>
                      <m:r>
                        <m:rPr>
                          <m:nor/>
                        </m:rPr>
                        <a:rPr lang="en-US" i="0"/>
                        <m:t>dan</m:t>
                      </m:r>
                      <m:r>
                        <m:rPr>
                          <m:nor/>
                        </m:rPr>
                        <a:rPr lang="en-US" i="0"/>
                        <m:t>_</m:t>
                      </m:r>
                      <m:r>
                        <m:rPr>
                          <m:nor/>
                        </m:rPr>
                        <a:rPr lang="en-US" i="0"/>
                        <m:t>campbell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Model 2:</a:t>
                </a:r>
                <a:r>
                  <a:rPr lang="en-US" dirty="0"/>
                  <a:t> Fourth down conversion attempt likelihood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/>
                            <m:t>attempt</m:t>
                          </m:r>
                        </m:e>
                        <m:sub>
                          <m:r>
                            <a:rPr lang="en-US" i="1"/>
                            <m:t>𝑡</m:t>
                          </m:r>
                        </m:sub>
                      </m:sSub>
                      <m:r>
                        <a:rPr lang="en-US" i="1"/>
                        <m:t>∼</m:t>
                      </m:r>
                      <m:r>
                        <m:rPr>
                          <m:nor/>
                        </m:rPr>
                        <a:rPr lang="en-US" i="0"/>
                        <m:t>Bernoulli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/>
                                <m:t>𝑝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/>
                        <m:t>logit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/>
                                <m:t>𝑝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/>
                            <m:t>𝑗</m:t>
                          </m:r>
                          <m:r>
                            <a:rPr lang="en-US" i="1"/>
                            <m:t>∈</m:t>
                          </m:r>
                          <m:r>
                            <a:rPr lang="en-US" i="1"/>
                            <m:t>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/>
                                <m:t>𝛽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/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/>
                            <m:t>𝑗</m:t>
                          </m:r>
                        </m:sub>
                      </m:sSub>
                      <m:r>
                        <a:rPr lang="en-US" i="1"/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/>
                            <m:t>𝑑</m:t>
                          </m:r>
                          <m:r>
                            <a:rPr lang="en-US" i="1"/>
                            <m:t>∈</m:t>
                          </m:r>
                          <m:r>
                            <a:rPr lang="en-US" i="1"/>
                            <m:t>𝐷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/>
                                <m:t>𝑘</m:t>
                              </m:r>
                              <m:r>
                                <a:rPr lang="en-US" i="1"/>
                                <m:t>∈</m:t>
                              </m:r>
                              <m:r>
                                <a:rPr lang="en-US" i="1"/>
                                <m:t>𝐾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/>
                                    <m:t>𝛼</m:t>
                                  </m:r>
                                </m:e>
                                <m:sub>
                                  <m:r>
                                    <a:rPr lang="en-US" i="1"/>
                                    <m:t>𝑑𝑘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A601391-4856-AF1D-71A7-9C17E4FDE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48684"/>
                <a:ext cx="10604499" cy="4529813"/>
              </a:xfrm>
              <a:blipFill>
                <a:blip r:embed="rId3"/>
                <a:stretch>
                  <a:fillRect l="-1198" t="-3073" b="-43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A82AF7-A857-55B4-64FC-F80DC9E63319}"/>
              </a:ext>
            </a:extLst>
          </p:cNvPr>
          <p:cNvSpPr txBox="1"/>
          <p:nvPr/>
        </p:nvSpPr>
        <p:spPr>
          <a:xfrm>
            <a:off x="134635" y="6471975"/>
            <a:ext cx="826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 = fixed effects, D = Dan Campbell binary indicator, K = team</a:t>
            </a:r>
          </a:p>
        </p:txBody>
      </p:sp>
    </p:spTree>
    <p:extLst>
      <p:ext uri="{BB962C8B-B14F-4D97-AF65-F5344CB8AC3E}">
        <p14:creationId xmlns:p14="http://schemas.microsoft.com/office/powerpoint/2010/main" val="306398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1C21B-B7A0-1C26-F6F4-D1CCFD45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1">
            <a:extLst>
              <a:ext uri="{FF2B5EF4-FFF2-40B4-BE49-F238E27FC236}">
                <a16:creationId xmlns:a16="http://schemas.microsoft.com/office/drawing/2014/main" id="{082717DD-FDE8-CF94-279B-032745C83633}"/>
              </a:ext>
            </a:extLst>
          </p:cNvPr>
          <p:cNvSpPr txBox="1">
            <a:spLocks/>
          </p:cNvSpPr>
          <p:nvPr/>
        </p:nvSpPr>
        <p:spPr>
          <a:xfrm>
            <a:off x="838200" y="462975"/>
            <a:ext cx="10515600" cy="813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Proportion of Conversion Attempts by Season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DD8089-B161-7F70-195C-6153246046E5}"/>
              </a:ext>
            </a:extLst>
          </p:cNvPr>
          <p:cNvCxnSpPr>
            <a:cxnSpLocks/>
          </p:cNvCxnSpPr>
          <p:nvPr/>
        </p:nvCxnSpPr>
        <p:spPr>
          <a:xfrm>
            <a:off x="838200" y="1326941"/>
            <a:ext cx="10607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530" name="Picture 2">
            <a:extLst>
              <a:ext uri="{FF2B5EF4-FFF2-40B4-BE49-F238E27FC236}">
                <a16:creationId xmlns:a16="http://schemas.microsoft.com/office/drawing/2014/main" id="{1865C852-80B6-A151-3BC8-EE4D82B104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8"/>
          <a:stretch>
            <a:fillRect/>
          </a:stretch>
        </p:blipFill>
        <p:spPr bwMode="auto">
          <a:xfrm>
            <a:off x="441960" y="1832207"/>
            <a:ext cx="11399520" cy="45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44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Words>753</Words>
  <Application>Microsoft Macintosh PowerPoint</Application>
  <PresentationFormat>Widescreen</PresentationFormat>
  <Paragraphs>87</Paragraphs>
  <Slides>14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Courier New</vt:lpstr>
      <vt:lpstr>System Font Regular</vt:lpstr>
      <vt:lpstr>Office Theme</vt:lpstr>
      <vt:lpstr>Microsoft Word Document</vt:lpstr>
      <vt:lpstr>The  Dan Campbell Effect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 Norman</dc:creator>
  <cp:lastModifiedBy>Jacob William Norman</cp:lastModifiedBy>
  <cp:revision>44</cp:revision>
  <dcterms:created xsi:type="dcterms:W3CDTF">2025-12-03T01:21:22Z</dcterms:created>
  <dcterms:modified xsi:type="dcterms:W3CDTF">2026-05-01T04:40:15Z</dcterms:modified>
</cp:coreProperties>
</file>